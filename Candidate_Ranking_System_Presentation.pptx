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78BFA"/>
                </a:solidFill>
                <a:latin typeface="Arial"/>
              </a:defRPr>
            </a:pPr>
            <a:r>
              <a:t>SLIDE 1  |  SYSTEM OVERVIEW</a:t>
            </a:r>
          </a:p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Modern Multi-Stage Hybrid Candidate Ranking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A78BFA"/>
                </a:solidFill>
                <a:latin typeface="Arial"/>
              </a:defRPr>
            </a:pPr>
            <a:r>
              <a:t>Solving the Recruitment Search Paradox</a:t>
            </a:r>
          </a:p>
          <a:p>
            <a:pPr>
              <a:spcAft>
                <a:spcPts val="14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Traditional recruitment software relies on simple exact keyword matching (which misses context and synonyms) or dense semantic search (which dilutes niche technical terms). This project builds an advanced multi-stage ranking pipeline that combines both styles with machine learning LTR features: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Fuses FAISS dense semantic indexes with BM25 sparse lexical matching.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Applies late-fusion Reciprocal Rank Fusion (RRF) to merge candidate pools.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Employs dual-objective XGBoost Learning-to-Rank student models.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Leverages neural Cross-Encoder matching for top candidates.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Enforces Maximal Marginal Relevance (MMR) for result diversity.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Pipeline Selection Funnel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1. Raw Candidates (candidates.jsonl)  ---&gt;  N = 100,000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2. RRF Late-Fusion Retrieval Pool  ---&gt;  N = 2,000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3. Blended XGBoost LTR Inference  ---&gt;  N = 200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Arial"/>
              </a:defRPr>
            </a:pPr>
            <a:r>
              <a:t>4. Cross-Encoder + MMR Final Output  ---&gt;  N =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78BFA"/>
                </a:solidFill>
                <a:latin typeface="Arial"/>
              </a:defRPr>
            </a:pPr>
            <a:r>
              <a:t>SLIDE 2  |  DATA PREPROCESSING &amp; DISTILLATION</a:t>
            </a:r>
          </a:p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Offline Feature Engineering &amp;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A78BFA"/>
                </a:solidFill>
                <a:latin typeface="Arial"/>
              </a:defRPr>
            </a:pPr>
            <a:r>
              <a:t>1. Tabular Feature Engineering</a:t>
            </a:r>
          </a:p>
          <a:p>
            <a:pPr>
              <a:spcAft>
                <a:spcPts val="12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Raw profiles are extracted from JSONL into a clean SQLite schema. We compute and engineer 46 advanced tabular features for every profile to feed structural context into XGBoost: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Career continuity ratios &amp; promotion velocity indicators.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Stability scores (job counts vs. total years of experience).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Education tier checks (extracting Tier 1 institutions).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Logistical flags (salary expectations and notice periods).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2. Distillation &amp; Adversarial Defense</a:t>
            </a:r>
          </a:p>
          <a:p>
            <a:pPr>
              <a:spcAft>
                <a:spcPts val="12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Candidate databases lack explicit training labels. We use knowledge distillation from a neural model and enforce adversarial security: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Neural Teacher: High-capacity Cross-Encoder scores 1500 profiles across 4 query groups to label training data.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Quantile Binning: Continuous scores are binned into classes [0, 1, 2, 3] representing mismatch to outstanding alignment.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Honeypot Hardening: Profiles containing hidden prompt injections or keyword-stuffing flags are flagged.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Adversarial Penalty: Detected honeypots are forced to 0 relevance, training the model to penalize exploits.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78BFA"/>
                </a:solidFill>
                <a:latin typeface="Arial"/>
              </a:defRPr>
            </a:pPr>
            <a:r>
              <a:t>SLIDE 3  |  ONLINE INFERENCE &amp; DECISION ENGINE</a:t>
            </a:r>
          </a:p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The Real-Time Ranking &amp; Explainability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A78BFA"/>
                </a:solidFill>
                <a:latin typeface="Arial"/>
              </a:defRPr>
            </a:pPr>
            <a:r>
              <a:t>1. Ensemble Blending &amp; Scoring</a:t>
            </a:r>
          </a:p>
          <a:p>
            <a:pPr>
              <a:spcAft>
                <a:spcPts val="12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The online engine fetches candidate features and passes them to our blended model ensemble: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XGBoost LTR Ensemble: Combines a Pairwise Ranker (minimizes relative swaps) and NDCG Ranker (optimizes top ranks).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Semantic Fusion: The top 200 LTR candidates are passed to the Cross-Encoder model on CPU.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Final Scoring: Combines LTR (structural features) and Cross-Encoder (text semantic relevance) using a 50/50 blend.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2. Diversity Filter &amp; Explainability</a:t>
            </a:r>
          </a:p>
          <a:p>
            <a:pPr>
              <a:spcAft>
                <a:spcPts val="1200"/>
              </a:spcAft>
              <a:defRPr sz="1400">
                <a:solidFill>
                  <a:srgbClr val="9CA3AF"/>
                </a:solidFill>
                <a:latin typeface="Arial"/>
              </a:defRPr>
            </a:pPr>
            <a:r>
              <a:t>Post-processing formats the top 100 candidate slate to ensure it is diverse, non-redundant, and explainable: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MMR Diversity Filter (lambda=0.85): Penalizes candidate profiles that are highly similar/redundant to already selected ones.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Tie-Breaker Sorting: Strictly sorts the slate by score DESC and candidate ID ASC per the hackathon specification.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  <a:latin typeface="Arial"/>
              </a:defRPr>
            </a:pPr>
            <a:r>
              <a:t>• Structured Explanations: Formulates explanations listing matched/missing skills, highlights, risks, and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78BFA"/>
                </a:solidFill>
                <a:latin typeface="Arial"/>
              </a:defRPr>
            </a:pPr>
            <a:r>
              <a:t>SLIDE 4  |  EVALUATION METRICS &amp; RESULTS</a:t>
            </a:r>
          </a:p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A78BFA"/>
                </a:solidFill>
                <a:latin typeface="Arial"/>
              </a:defRPr>
            </a:pPr>
            <a:r>
              <a:t>Results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Successfully ranks candidates according to JD relevance.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Hybrid ranking improves prioritization.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Transparent scoring enables recruiter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Performance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FAISS enables fast similarity search.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Embeddings generated once and reused.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Lightweight Streamlit interface for quick interaction.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78BFA"/>
                </a:solidFill>
                <a:latin typeface="Arial"/>
              </a:defRPr>
            </a:pPr>
            <a:r>
              <a:t>SLIDE 5  |  TECHNOLOGY STACK</a:t>
            </a:r>
          </a:p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9CA3AF"/>
                </a:solidFill>
                <a:latin typeface="Arial"/>
              </a:defRPr>
            </a:pPr>
            <a:r>
              <a:t>What technologies, frameworks, and tools were used and why were they selected for this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• FAISS (Dense Search)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Selected for high-performance, fast vector similarity search on dense section embeddings, scaling efficiently to millions of profiles.</a:t>
            </a:r>
          </a:p>
          <a:p>
            <a:pPr>
              <a:spcAft>
                <a:spcPts val="2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• BM25 (Sparse Search)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Selected for sparse exact keyword matching, ensuring specific developer skills and ontology terms are matched precisely without semantic dilution.</a:t>
            </a:r>
          </a:p>
          <a:p>
            <a:pPr>
              <a:spcAft>
                <a:spcPts val="200"/>
              </a:spcAft>
              <a:defRPr sz="1400" b="1">
                <a:solidFill>
                  <a:srgbClr val="A78BFA"/>
                </a:solidFill>
                <a:latin typeface="Arial"/>
              </a:defRPr>
            </a:pPr>
            <a:r>
              <a:t>• XGBoost (LTR Student)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Selected as a lightweight, super-fast LTR student model that handles complex non-linear combinations of 46 structural features in milliseconds.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B82F6"/>
                </a:solidFill>
                <a:latin typeface="Arial"/>
              </a:defRPr>
            </a:pPr>
            <a:r>
              <a:t>• SentenceTransformers (Embeddings)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BGE-base-en-v1.5 selected for dense semantic bi-encoder embeddings; ms-marco-MiniLM-L-6-v2 selected for high-fidelity cross-encoder query-resume deep text matching.</a:t>
            </a:r>
          </a:p>
          <a:p>
            <a:pPr>
              <a:spcAft>
                <a:spcPts val="200"/>
              </a:spcAft>
              <a:defRPr sz="1400" b="1">
                <a:solidFill>
                  <a:srgbClr val="3B82F6"/>
                </a:solidFill>
                <a:latin typeface="Arial"/>
              </a:defRPr>
            </a:pPr>
            <a:r>
              <a:t>• SQLite (Feature DB)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Selected as a lightweight, serverless relational database to store candidate metadata and retrieve computed candidate features instantaneously.</a:t>
            </a:r>
          </a:p>
          <a:p>
            <a:pPr>
              <a:spcAft>
                <a:spcPts val="200"/>
              </a:spcAft>
              <a:defRPr sz="1400" b="1">
                <a:solidFill>
                  <a:srgbClr val="3B82F6"/>
                </a:solidFill>
                <a:latin typeface="Arial"/>
              </a:defRPr>
            </a:pPr>
            <a:r>
              <a:t>• Streamlit (UI Portal)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  Selected for building a clean, responsive, and lightweight web interface for recruiters to interactively upload job descriptions and explore rankings.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